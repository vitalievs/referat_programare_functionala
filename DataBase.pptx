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7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98C2574-9735-4549-A5FC-CA943E89F81E}" type="datetimeFigureOut">
              <a:rPr lang="ru-RU" smtClean="0"/>
              <a:t>22.11.2020</a:t>
            </a:fld>
            <a:endParaRPr lang="ru-RU"/>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ru-RU"/>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713706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98C2574-9735-4549-A5FC-CA943E89F81E}"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1074358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98C2574-9735-4549-A5FC-CA943E89F81E}"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3140779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98C2574-9735-4549-A5FC-CA943E89F81E}" type="datetimeFigureOut">
              <a:rPr lang="ru-RU" smtClean="0"/>
              <a:t>22.11.2020</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1747411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98C2574-9735-4549-A5FC-CA943E89F81E}" type="datetimeFigureOut">
              <a:rPr lang="ru-RU" smtClean="0"/>
              <a:t>22.11.2020</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2121922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98C2574-9735-4549-A5FC-CA943E89F81E}" type="datetimeFigureOut">
              <a:rPr lang="ru-RU" smtClean="0"/>
              <a:t>22.11.2020</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1220952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8C2574-9735-4549-A5FC-CA943E89F81E}" type="datetimeFigureOut">
              <a:rPr lang="ru-RU" smtClean="0"/>
              <a:t>22.11.2020</a:t>
            </a:fld>
            <a:endParaRPr lang="ru-RU"/>
          </a:p>
        </p:txBody>
      </p:sp>
      <p:sp>
        <p:nvSpPr>
          <p:cNvPr id="3" name="Footer Placeholder 2"/>
          <p:cNvSpPr>
            <a:spLocks noGrp="1"/>
          </p:cNvSpPr>
          <p:nvPr>
            <p:ph type="ftr" sz="quarter" idx="11"/>
          </p:nvPr>
        </p:nvSpPr>
        <p:spPr/>
        <p:txBody>
          <a:bodyPr/>
          <a:lstStyle/>
          <a:p>
            <a:endParaRPr lang="ru-RU"/>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2799169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98C2574-9735-4549-A5FC-CA943E89F81E}" type="datetimeFigureOut">
              <a:rPr lang="ru-RU" smtClean="0"/>
              <a:t>22.11.2020</a:t>
            </a:fld>
            <a:endParaRPr lang="ru-RU"/>
          </a:p>
        </p:txBody>
      </p:sp>
      <p:sp>
        <p:nvSpPr>
          <p:cNvPr id="6" name="Footer Placeholder 5"/>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255790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98C2574-9735-4549-A5FC-CA943E89F81E}" type="datetimeFigureOut">
              <a:rPr lang="ru-RU" smtClean="0"/>
              <a:t>22.11.2020</a:t>
            </a:fld>
            <a:endParaRPr lang="ru-RU"/>
          </a:p>
        </p:txBody>
      </p:sp>
      <p:sp>
        <p:nvSpPr>
          <p:cNvPr id="6" name="Footer Placeholder 5"/>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3403586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98C2574-9735-4549-A5FC-CA943E89F81E}" type="datetimeFigureOut">
              <a:rPr lang="ru-RU" smtClean="0"/>
              <a:t>22.11.2020</a:t>
            </a:fld>
            <a:endParaRPr lang="ru-RU"/>
          </a:p>
        </p:txBody>
      </p:sp>
      <p:sp>
        <p:nvSpPr>
          <p:cNvPr id="6" name="Footer Placeholder 5"/>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3404105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98C2574-9735-4549-A5FC-CA943E89F81E}"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2412182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98C2574-9735-4549-A5FC-CA943E89F81E}"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1622955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98C2574-9735-4549-A5FC-CA943E89F81E}"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2548165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98C2574-9735-4549-A5FC-CA943E89F81E}" type="datetimeFigureOut">
              <a:rPr lang="ru-RU" smtClean="0"/>
              <a:t>22.11.2020</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3222416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98C2574-9735-4549-A5FC-CA943E89F81E}" type="datetimeFigureOut">
              <a:rPr lang="ru-RU" smtClean="0"/>
              <a:t>22.11.2020</a:t>
            </a:fld>
            <a:endParaRPr lang="ru-RU"/>
          </a:p>
        </p:txBody>
      </p:sp>
      <p:sp>
        <p:nvSpPr>
          <p:cNvPr id="8" name="Footer Placeholder 7"/>
          <p:cNvSpPr>
            <a:spLocks noGrp="1"/>
          </p:cNvSpPr>
          <p:nvPr>
            <p:ph type="ftr" sz="quarter" idx="11"/>
          </p:nvPr>
        </p:nvSpPr>
        <p:spPr>
          <a:xfrm>
            <a:off x="561111" y="6391838"/>
            <a:ext cx="3644282" cy="304801"/>
          </a:xfrm>
        </p:spPr>
        <p:txBody>
          <a:bodyPr/>
          <a:lstStyle/>
          <a:p>
            <a:endParaRPr lang="ru-RU"/>
          </a:p>
        </p:txBody>
      </p:sp>
      <p:sp>
        <p:nvSpPr>
          <p:cNvPr id="9" name="Slide Number Placeholder 8"/>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6534933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98C2574-9735-4549-A5FC-CA943E89F81E}"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16833818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98C2574-9735-4549-A5FC-CA943E89F81E}" type="datetimeFigureOut">
              <a:rPr lang="ru-RU" smtClean="0"/>
              <a:t>22.11.2020</a:t>
            </a:fld>
            <a:endParaRPr lang="ru-RU"/>
          </a:p>
        </p:txBody>
      </p:sp>
      <p:sp>
        <p:nvSpPr>
          <p:cNvPr id="5" name="Footer Placeholder 4"/>
          <p:cNvSpPr>
            <a:spLocks noGrp="1"/>
          </p:cNvSpPr>
          <p:nvPr>
            <p:ph type="ftr" sz="quarter" idx="11"/>
          </p:nvPr>
        </p:nvSpPr>
        <p:spPr/>
        <p:txBody>
          <a:bodyPr/>
          <a:lstStyle/>
          <a:p>
            <a:endParaRPr lang="ru-RU"/>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BBB8A94-E438-4420-890C-C3755077B134}" type="slidenum">
              <a:rPr lang="ru-RU" smtClean="0"/>
              <a:t>‹#›</a:t>
            </a:fld>
            <a:endParaRPr lang="ru-RU"/>
          </a:p>
        </p:txBody>
      </p:sp>
    </p:spTree>
    <p:extLst>
      <p:ext uri="{BB962C8B-B14F-4D97-AF65-F5344CB8AC3E}">
        <p14:creationId xmlns:p14="http://schemas.microsoft.com/office/powerpoint/2010/main" val="2220210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98C2574-9735-4549-A5FC-CA943E89F81E}" type="datetimeFigureOut">
              <a:rPr lang="ru-RU" smtClean="0"/>
              <a:t>22.11.2020</a:t>
            </a:fld>
            <a:endParaRPr lang="ru-RU"/>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ru-RU"/>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BBB8A94-E438-4420-890C-C3755077B134}" type="slidenum">
              <a:rPr lang="ru-RU" smtClean="0"/>
              <a:t>‹#›</a:t>
            </a:fld>
            <a:endParaRPr lang="ru-RU"/>
          </a:p>
        </p:txBody>
      </p:sp>
    </p:spTree>
    <p:extLst>
      <p:ext uri="{BB962C8B-B14F-4D97-AF65-F5344CB8AC3E}">
        <p14:creationId xmlns:p14="http://schemas.microsoft.com/office/powerpoint/2010/main" val="119975792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sqlite.org/index.html" TargetMode="External"/><Relationship Id="rId7" Type="http://schemas.openxmlformats.org/officeDocument/2006/relationships/hyperlink" Target="https://en.wikibooks.org/wiki/Haskell/Database" TargetMode="External"/><Relationship Id="rId2" Type="http://schemas.openxmlformats.org/officeDocument/2006/relationships/hyperlink" Target="https://hackage.haskell.org/package/HDBC" TargetMode="External"/><Relationship Id="rId1" Type="http://schemas.openxmlformats.org/officeDocument/2006/relationships/slideLayout" Target="../slideLayouts/slideLayout2.xml"/><Relationship Id="rId6" Type="http://schemas.openxmlformats.org/officeDocument/2006/relationships/hyperlink" Target="https://hackage.haskell.org/package/HDBC-2.4.0.3/docs/Database-HDBC.html" TargetMode="External"/><Relationship Id="rId5" Type="http://schemas.openxmlformats.org/officeDocument/2006/relationships/hyperlink" Target="https://wiki.haskell.org/Web/Databases_and_Persistence" TargetMode="External"/><Relationship Id="rId4" Type="http://schemas.openxmlformats.org/officeDocument/2006/relationships/hyperlink" Target="https://wiki.haskell.org/Introduc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Lucrul</a:t>
            </a:r>
            <a:r>
              <a:rPr lang="en-US" dirty="0" smtClean="0"/>
              <a:t> cu </a:t>
            </a:r>
            <a:r>
              <a:rPr lang="en-US" dirty="0" err="1" smtClean="0"/>
              <a:t>baze</a:t>
            </a:r>
            <a:r>
              <a:rPr lang="en-US" dirty="0" smtClean="0"/>
              <a:t> de date </a:t>
            </a:r>
            <a:r>
              <a:rPr lang="ro-RO" dirty="0" smtClean="0"/>
              <a:t>în Haskell</a:t>
            </a:r>
            <a:endParaRPr lang="ru-RU" dirty="0"/>
          </a:p>
        </p:txBody>
      </p:sp>
      <p:sp>
        <p:nvSpPr>
          <p:cNvPr id="3" name="Subtitle 2"/>
          <p:cNvSpPr>
            <a:spLocks noGrp="1"/>
          </p:cNvSpPr>
          <p:nvPr>
            <p:ph type="subTitle" idx="1"/>
          </p:nvPr>
        </p:nvSpPr>
        <p:spPr/>
        <p:txBody>
          <a:bodyPr/>
          <a:lstStyle/>
          <a:p>
            <a:r>
              <a:rPr lang="ro-RO" dirty="0" smtClean="0"/>
              <a:t>Elaborat</a:t>
            </a:r>
            <a:r>
              <a:rPr lang="en-US" dirty="0" smtClean="0"/>
              <a:t>: Sandiuc vitalie</a:t>
            </a:r>
            <a:endParaRPr lang="ru-RU" dirty="0"/>
          </a:p>
        </p:txBody>
      </p:sp>
    </p:spTree>
    <p:extLst>
      <p:ext uri="{BB962C8B-B14F-4D97-AF65-F5344CB8AC3E}">
        <p14:creationId xmlns:p14="http://schemas.microsoft.com/office/powerpoint/2010/main" val="1572800179"/>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CUPRINS</a:t>
            </a:r>
            <a:endParaRPr lang="ru-RU" dirty="0"/>
          </a:p>
        </p:txBody>
      </p:sp>
      <p:sp>
        <p:nvSpPr>
          <p:cNvPr id="3" name="Content Placeholder 2"/>
          <p:cNvSpPr>
            <a:spLocks noGrp="1"/>
          </p:cNvSpPr>
          <p:nvPr>
            <p:ph idx="1"/>
          </p:nvPr>
        </p:nvSpPr>
        <p:spPr>
          <a:xfrm>
            <a:off x="1154954" y="2021305"/>
            <a:ext cx="8825659" cy="4547937"/>
          </a:xfrm>
        </p:spPr>
        <p:txBody>
          <a:bodyPr>
            <a:noAutofit/>
          </a:bodyPr>
          <a:lstStyle/>
          <a:p>
            <a:r>
              <a:rPr lang="en-US" b="1" dirty="0" err="1" smtClean="0"/>
              <a:t>Introducere</a:t>
            </a:r>
            <a:endParaRPr lang="en-US" b="1" dirty="0" smtClean="0"/>
          </a:p>
          <a:p>
            <a:r>
              <a:rPr lang="en-US" b="1" dirty="0" err="1" smtClean="0"/>
              <a:t>Baze</a:t>
            </a:r>
            <a:r>
              <a:rPr lang="en-US" b="1" dirty="0" smtClean="0"/>
              <a:t> de date. No</a:t>
            </a:r>
            <a:r>
              <a:rPr lang="ro-RO" b="1" dirty="0" smtClean="0"/>
              <a:t>țiunea de baze de date.</a:t>
            </a:r>
          </a:p>
          <a:p>
            <a:r>
              <a:rPr lang="ro-RO" b="1" dirty="0" smtClean="0"/>
              <a:t>Utilizarea. HDBC</a:t>
            </a:r>
          </a:p>
          <a:p>
            <a:r>
              <a:rPr lang="ro-RO" b="1" dirty="0" smtClean="0"/>
              <a:t>Instalare și Drivere</a:t>
            </a:r>
          </a:p>
          <a:p>
            <a:r>
              <a:rPr lang="ro-RO" b="1" dirty="0" smtClean="0"/>
              <a:t>Conectarea către baza de date</a:t>
            </a:r>
          </a:p>
          <a:p>
            <a:r>
              <a:rPr lang="ro-RO" b="1" dirty="0" smtClean="0"/>
              <a:t>Tranzacții. Interogări</a:t>
            </a:r>
          </a:p>
          <a:p>
            <a:r>
              <a:rPr lang="ro-RO" b="1" dirty="0" smtClean="0"/>
              <a:t>Valori SQL</a:t>
            </a:r>
          </a:p>
          <a:p>
            <a:r>
              <a:rPr lang="ro-RO" b="1" dirty="0" smtClean="0"/>
              <a:t>Parametrii interogării</a:t>
            </a:r>
          </a:p>
          <a:p>
            <a:r>
              <a:rPr lang="ro-RO" b="1" dirty="0" smtClean="0"/>
              <a:t>Declarații pregătite</a:t>
            </a:r>
          </a:p>
          <a:p>
            <a:r>
              <a:rPr lang="ro-RO" b="1" dirty="0" smtClean="0"/>
              <a:t>Citirea rezultatelor</a:t>
            </a:r>
          </a:p>
          <a:p>
            <a:r>
              <a:rPr lang="ro-RO" b="1" dirty="0" smtClean="0"/>
              <a:t>Concluzii</a:t>
            </a:r>
          </a:p>
          <a:p>
            <a:r>
              <a:rPr lang="ro-RO" b="1" dirty="0" smtClean="0"/>
              <a:t>Bibliografe</a:t>
            </a:r>
            <a:endParaRPr lang="ru-RU" b="1" dirty="0"/>
          </a:p>
        </p:txBody>
      </p:sp>
    </p:spTree>
    <p:extLst>
      <p:ext uri="{BB962C8B-B14F-4D97-AF65-F5344CB8AC3E}">
        <p14:creationId xmlns:p14="http://schemas.microsoft.com/office/powerpoint/2010/main" val="13628975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Introducere</a:t>
            </a:r>
            <a:endParaRPr lang="ru-RU" dirty="0"/>
          </a:p>
        </p:txBody>
      </p:sp>
      <p:sp>
        <p:nvSpPr>
          <p:cNvPr id="3" name="Content Placeholder 2"/>
          <p:cNvSpPr>
            <a:spLocks noGrp="1"/>
          </p:cNvSpPr>
          <p:nvPr>
            <p:ph idx="1"/>
          </p:nvPr>
        </p:nvSpPr>
        <p:spPr>
          <a:xfrm>
            <a:off x="0" y="2229853"/>
            <a:ext cx="8825659" cy="4628147"/>
          </a:xfrm>
        </p:spPr>
        <p:txBody>
          <a:bodyPr/>
          <a:lstStyle/>
          <a:p>
            <a:r>
              <a:rPr lang="ro-RO" dirty="0"/>
              <a:t>Limbajul de programare Haskell este un limbaj de programare generic, avansat, tipizat static, pur funcțional și cu evaluare leneșă (lazy evaluation). Dispune de open-source pachete ce pot fi utilizate de către fiecare, din orice colț al lumii.  Haskell oferă o productivitate crescută programatorului, un cod mai curat, mai scrut și mai ușor de a fi întreținut. La fel, erori mai puține cu o realibitate mai mare, de asemenea cu un decalaj mai mic semantic între programator și limbaj.</a:t>
            </a:r>
            <a:endParaRPr lang="ru-RU" dirty="0"/>
          </a:p>
          <a:p>
            <a:r>
              <a:rPr lang="ro-RO" dirty="0"/>
              <a:t>Haskell este un limbaj ce este utilizat în multe domenii, cum ar fi în cel academic și industrial, la fel având o popularitate destul de mare.  Haksell este un limbaj ușor de a fi înțeles, modern, și având posibilități de Cross-Platform.</a:t>
            </a:r>
            <a:endParaRPr lang="ro-RO" dirty="0" smtClean="0"/>
          </a:p>
        </p:txBody>
      </p:sp>
      <p:pic>
        <p:nvPicPr>
          <p:cNvPr id="4" name="Picture 3"/>
          <p:cNvPicPr>
            <a:picLocks noChangeAspect="1"/>
          </p:cNvPicPr>
          <p:nvPr/>
        </p:nvPicPr>
        <p:blipFill>
          <a:blip r:embed="rId2"/>
          <a:stretch>
            <a:fillRect/>
          </a:stretch>
        </p:blipFill>
        <p:spPr>
          <a:xfrm>
            <a:off x="8438147" y="4866372"/>
            <a:ext cx="3753853" cy="1991628"/>
          </a:xfrm>
          <a:prstGeom prst="rect">
            <a:avLst/>
          </a:prstGeom>
        </p:spPr>
      </p:pic>
    </p:spTree>
    <p:extLst>
      <p:ext uri="{BB962C8B-B14F-4D97-AF65-F5344CB8AC3E}">
        <p14:creationId xmlns:p14="http://schemas.microsoft.com/office/powerpoint/2010/main" val="2050532410"/>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9657425" cy="706964"/>
          </a:xfrm>
        </p:spPr>
        <p:txBody>
          <a:bodyPr/>
          <a:lstStyle/>
          <a:p>
            <a:r>
              <a:rPr lang="ro-RO" dirty="0" smtClean="0"/>
              <a:t>Baze de date. Noțiunea de baze de date</a:t>
            </a:r>
            <a:endParaRPr lang="ru-RU" dirty="0"/>
          </a:p>
        </p:txBody>
      </p:sp>
      <p:sp>
        <p:nvSpPr>
          <p:cNvPr id="3" name="Content Placeholder 2"/>
          <p:cNvSpPr>
            <a:spLocks noGrp="1"/>
          </p:cNvSpPr>
          <p:nvPr>
            <p:ph idx="1"/>
          </p:nvPr>
        </p:nvSpPr>
        <p:spPr>
          <a:xfrm>
            <a:off x="0" y="2245895"/>
            <a:ext cx="12192000" cy="4612105"/>
          </a:xfrm>
        </p:spPr>
        <p:txBody>
          <a:bodyPr/>
          <a:lstStyle/>
          <a:p>
            <a:r>
              <a:rPr lang="en-US" dirty="0"/>
              <a:t>O </a:t>
            </a:r>
            <a:r>
              <a:rPr lang="en-US" dirty="0" err="1"/>
              <a:t>bază</a:t>
            </a:r>
            <a:r>
              <a:rPr lang="en-US" dirty="0"/>
              <a:t> de date </a:t>
            </a:r>
            <a:r>
              <a:rPr lang="en-US" dirty="0" err="1"/>
              <a:t>este</a:t>
            </a:r>
            <a:r>
              <a:rPr lang="en-US" dirty="0"/>
              <a:t> o </a:t>
            </a:r>
            <a:r>
              <a:rPr lang="en-US" dirty="0" err="1"/>
              <a:t>colecție</a:t>
            </a:r>
            <a:r>
              <a:rPr lang="en-US" dirty="0"/>
              <a:t> de </a:t>
            </a:r>
            <a:r>
              <a:rPr lang="en-US" dirty="0" err="1"/>
              <a:t>informație</a:t>
            </a:r>
            <a:r>
              <a:rPr lang="en-US" dirty="0"/>
              <a:t> care </a:t>
            </a:r>
            <a:r>
              <a:rPr lang="en-US" dirty="0" err="1"/>
              <a:t>este</a:t>
            </a:r>
            <a:r>
              <a:rPr lang="en-US" dirty="0"/>
              <a:t> </a:t>
            </a:r>
            <a:r>
              <a:rPr lang="en-US" dirty="0" err="1"/>
              <a:t>organizată</a:t>
            </a:r>
            <a:r>
              <a:rPr lang="en-US" dirty="0"/>
              <a:t> </a:t>
            </a:r>
            <a:r>
              <a:rPr lang="en-US" dirty="0" err="1"/>
              <a:t>în</a:t>
            </a:r>
            <a:r>
              <a:rPr lang="en-US" dirty="0"/>
              <a:t> </a:t>
            </a:r>
            <a:r>
              <a:rPr lang="en-US" dirty="0" err="1"/>
              <a:t>așa</a:t>
            </a:r>
            <a:r>
              <a:rPr lang="en-US" dirty="0"/>
              <a:t> mod </a:t>
            </a:r>
            <a:r>
              <a:rPr lang="en-US" dirty="0" err="1"/>
              <a:t>încât</a:t>
            </a:r>
            <a:r>
              <a:rPr lang="en-US" dirty="0"/>
              <a:t> </a:t>
            </a:r>
            <a:r>
              <a:rPr lang="en-US" dirty="0" err="1"/>
              <a:t>să</a:t>
            </a:r>
            <a:r>
              <a:rPr lang="en-US" dirty="0"/>
              <a:t> </a:t>
            </a:r>
            <a:r>
              <a:rPr lang="en-US" dirty="0" err="1"/>
              <a:t>poată</a:t>
            </a:r>
            <a:r>
              <a:rPr lang="en-US" dirty="0"/>
              <a:t> fi </a:t>
            </a:r>
            <a:r>
              <a:rPr lang="en-US" dirty="0" err="1"/>
              <a:t>ușor</a:t>
            </a:r>
            <a:r>
              <a:rPr lang="en-US" dirty="0"/>
              <a:t> </a:t>
            </a:r>
            <a:r>
              <a:rPr lang="en-US" dirty="0" err="1"/>
              <a:t>accesată</a:t>
            </a:r>
            <a:r>
              <a:rPr lang="en-US" dirty="0"/>
              <a:t>, </a:t>
            </a:r>
            <a:r>
              <a:rPr lang="en-US" dirty="0" err="1"/>
              <a:t>controlată</a:t>
            </a:r>
            <a:r>
              <a:rPr lang="en-US" dirty="0"/>
              <a:t> </a:t>
            </a:r>
            <a:r>
              <a:rPr lang="en-US" dirty="0" err="1"/>
              <a:t>și</a:t>
            </a:r>
            <a:r>
              <a:rPr lang="en-US" dirty="0"/>
              <a:t> </a:t>
            </a:r>
            <a:r>
              <a:rPr lang="en-US" dirty="0" err="1"/>
              <a:t>actualizată</a:t>
            </a:r>
            <a:r>
              <a:rPr lang="en-US" dirty="0"/>
              <a:t>. </a:t>
            </a:r>
            <a:r>
              <a:rPr lang="en-US" dirty="0" err="1"/>
              <a:t>Bazele</a:t>
            </a:r>
            <a:r>
              <a:rPr lang="en-US" dirty="0"/>
              <a:t> de date de </a:t>
            </a:r>
            <a:r>
              <a:rPr lang="en-US" dirty="0" err="1"/>
              <a:t>obicei</a:t>
            </a:r>
            <a:r>
              <a:rPr lang="en-US" dirty="0"/>
              <a:t> </a:t>
            </a:r>
            <a:r>
              <a:rPr lang="en-US" dirty="0" err="1"/>
              <a:t>conțin</a:t>
            </a:r>
            <a:r>
              <a:rPr lang="en-US" dirty="0"/>
              <a:t> </a:t>
            </a:r>
            <a:r>
              <a:rPr lang="en-US" dirty="0" err="1"/>
              <a:t>câmpuri</a:t>
            </a:r>
            <a:r>
              <a:rPr lang="en-US" dirty="0"/>
              <a:t> de date (record-</a:t>
            </a:r>
            <a:r>
              <a:rPr lang="en-US" dirty="0" err="1"/>
              <a:t>uri</a:t>
            </a:r>
            <a:r>
              <a:rPr lang="en-US" dirty="0"/>
              <a:t>) </a:t>
            </a:r>
            <a:r>
              <a:rPr lang="en-US" dirty="0" err="1"/>
              <a:t>sau</a:t>
            </a:r>
            <a:r>
              <a:rPr lang="en-US" dirty="0"/>
              <a:t> </a:t>
            </a:r>
            <a:r>
              <a:rPr lang="en-US" dirty="0" err="1"/>
              <a:t>fișiere</a:t>
            </a:r>
            <a:r>
              <a:rPr lang="en-US" dirty="0"/>
              <a:t>, </a:t>
            </a:r>
            <a:r>
              <a:rPr lang="en-US" dirty="0" err="1"/>
              <a:t>ce</a:t>
            </a:r>
            <a:r>
              <a:rPr lang="en-US" dirty="0"/>
              <a:t> </a:t>
            </a:r>
            <a:r>
              <a:rPr lang="en-US" dirty="0" err="1"/>
              <a:t>conțin</a:t>
            </a:r>
            <a:r>
              <a:rPr lang="en-US" dirty="0"/>
              <a:t> </a:t>
            </a:r>
            <a:r>
              <a:rPr lang="en-US" dirty="0" err="1"/>
              <a:t>informații</a:t>
            </a:r>
            <a:r>
              <a:rPr lang="en-US" dirty="0"/>
              <a:t> </a:t>
            </a:r>
            <a:r>
              <a:rPr lang="en-US" dirty="0" err="1"/>
              <a:t>despre</a:t>
            </a:r>
            <a:r>
              <a:rPr lang="en-US" dirty="0"/>
              <a:t> </a:t>
            </a:r>
            <a:r>
              <a:rPr lang="en-US" dirty="0" err="1"/>
              <a:t>diferite</a:t>
            </a:r>
            <a:r>
              <a:rPr lang="en-US" dirty="0"/>
              <a:t> </a:t>
            </a:r>
            <a:r>
              <a:rPr lang="en-US" dirty="0" err="1"/>
              <a:t>interacțiunii</a:t>
            </a:r>
            <a:r>
              <a:rPr lang="en-US" dirty="0"/>
              <a:t>, </a:t>
            </a:r>
            <a:r>
              <a:rPr lang="en-US" dirty="0" err="1"/>
              <a:t>tranzacții</a:t>
            </a:r>
            <a:r>
              <a:rPr lang="en-US" dirty="0"/>
              <a:t> cu un specific </a:t>
            </a:r>
            <a:r>
              <a:rPr lang="en-US" dirty="0" err="1"/>
              <a:t>utilizator</a:t>
            </a:r>
            <a:r>
              <a:rPr lang="en-US" dirty="0"/>
              <a:t>.</a:t>
            </a:r>
            <a:endParaRPr lang="ru-RU" dirty="0"/>
          </a:p>
          <a:p>
            <a:r>
              <a:rPr lang="en-US" dirty="0"/>
              <a:t>De </a:t>
            </a:r>
            <a:r>
              <a:rPr lang="en-US" dirty="0" err="1"/>
              <a:t>obicei</a:t>
            </a:r>
            <a:r>
              <a:rPr lang="en-US" dirty="0"/>
              <a:t>, </a:t>
            </a:r>
            <a:r>
              <a:rPr lang="en-US" dirty="0" err="1"/>
              <a:t>managerul</a:t>
            </a:r>
            <a:r>
              <a:rPr lang="en-US" dirty="0"/>
              <a:t> de </a:t>
            </a:r>
            <a:r>
              <a:rPr lang="en-US" dirty="0" err="1"/>
              <a:t>baza</a:t>
            </a:r>
            <a:r>
              <a:rPr lang="en-US" dirty="0"/>
              <a:t> de date </a:t>
            </a:r>
            <a:r>
              <a:rPr lang="en-US" dirty="0" err="1"/>
              <a:t>oferă</a:t>
            </a:r>
            <a:r>
              <a:rPr lang="en-US" dirty="0"/>
              <a:t> </a:t>
            </a:r>
            <a:r>
              <a:rPr lang="en-US" dirty="0" err="1"/>
              <a:t>utilizatorului</a:t>
            </a:r>
            <a:r>
              <a:rPr lang="en-US" dirty="0"/>
              <a:t> </a:t>
            </a:r>
            <a:r>
              <a:rPr lang="en-US" dirty="0" err="1"/>
              <a:t>abilitatea</a:t>
            </a:r>
            <a:r>
              <a:rPr lang="en-US" dirty="0"/>
              <a:t> de a </a:t>
            </a:r>
            <a:r>
              <a:rPr lang="en-US" dirty="0" err="1"/>
              <a:t>controla</a:t>
            </a:r>
            <a:r>
              <a:rPr lang="en-US" dirty="0"/>
              <a:t> </a:t>
            </a:r>
            <a:r>
              <a:rPr lang="en-US" dirty="0" err="1"/>
              <a:t>accesul</a:t>
            </a:r>
            <a:r>
              <a:rPr lang="en-US" dirty="0"/>
              <a:t> de </a:t>
            </a:r>
            <a:r>
              <a:rPr lang="en-US" dirty="0" err="1"/>
              <a:t>citire</a:t>
            </a:r>
            <a:r>
              <a:rPr lang="en-US" dirty="0"/>
              <a:t> </a:t>
            </a:r>
            <a:r>
              <a:rPr lang="en-US" dirty="0" err="1"/>
              <a:t>și</a:t>
            </a:r>
            <a:r>
              <a:rPr lang="en-US" dirty="0"/>
              <a:t> </a:t>
            </a:r>
            <a:r>
              <a:rPr lang="en-US" dirty="0" err="1"/>
              <a:t>scriere</a:t>
            </a:r>
            <a:r>
              <a:rPr lang="en-US" dirty="0"/>
              <a:t> a </a:t>
            </a:r>
            <a:r>
              <a:rPr lang="en-US" dirty="0" err="1"/>
              <a:t>fișierelor</a:t>
            </a:r>
            <a:r>
              <a:rPr lang="en-US" dirty="0"/>
              <a:t>, </a:t>
            </a:r>
            <a:r>
              <a:rPr lang="en-US" dirty="0" err="1"/>
              <a:t>dar</a:t>
            </a:r>
            <a:r>
              <a:rPr lang="en-US" dirty="0"/>
              <a:t> </a:t>
            </a:r>
            <a:r>
              <a:rPr lang="en-US" dirty="0" err="1"/>
              <a:t>și</a:t>
            </a:r>
            <a:r>
              <a:rPr lang="en-US" dirty="0"/>
              <a:t> de </a:t>
            </a:r>
            <a:r>
              <a:rPr lang="en-US" dirty="0" err="1"/>
              <a:t>specificare</a:t>
            </a:r>
            <a:r>
              <a:rPr lang="en-US" dirty="0"/>
              <a:t> a </a:t>
            </a:r>
            <a:r>
              <a:rPr lang="en-US" dirty="0" err="1"/>
              <a:t>generării</a:t>
            </a:r>
            <a:r>
              <a:rPr lang="en-US" dirty="0"/>
              <a:t> </a:t>
            </a:r>
            <a:r>
              <a:rPr lang="en-US" dirty="0" err="1"/>
              <a:t>raportului</a:t>
            </a:r>
            <a:r>
              <a:rPr lang="en-US" dirty="0"/>
              <a:t>, </a:t>
            </a:r>
            <a:r>
              <a:rPr lang="en-US" dirty="0" err="1"/>
              <a:t>cât</a:t>
            </a:r>
            <a:r>
              <a:rPr lang="en-US" dirty="0"/>
              <a:t> </a:t>
            </a:r>
            <a:r>
              <a:rPr lang="en-US" dirty="0" err="1"/>
              <a:t>și</a:t>
            </a:r>
            <a:r>
              <a:rPr lang="en-US" dirty="0"/>
              <a:t> </a:t>
            </a:r>
            <a:r>
              <a:rPr lang="en-US" dirty="0" err="1"/>
              <a:t>analiza</a:t>
            </a:r>
            <a:r>
              <a:rPr lang="en-US" dirty="0"/>
              <a:t> </a:t>
            </a:r>
            <a:r>
              <a:rPr lang="en-US" dirty="0" err="1"/>
              <a:t>utilizării</a:t>
            </a:r>
            <a:r>
              <a:rPr lang="en-US" dirty="0"/>
              <a:t> </a:t>
            </a:r>
            <a:r>
              <a:rPr lang="en-US" dirty="0" err="1"/>
              <a:t>bazei</a:t>
            </a:r>
            <a:r>
              <a:rPr lang="en-US" dirty="0"/>
              <a:t>. </a:t>
            </a:r>
            <a:endParaRPr lang="ro-RO" dirty="0" smtClean="0"/>
          </a:p>
          <a:p>
            <a:r>
              <a:rPr lang="en-US" dirty="0" err="1"/>
              <a:t>Deosebim</a:t>
            </a:r>
            <a:r>
              <a:rPr lang="en-US" dirty="0"/>
              <a:t> </a:t>
            </a:r>
            <a:r>
              <a:rPr lang="en-US" dirty="0" err="1"/>
              <a:t>câteva</a:t>
            </a:r>
            <a:r>
              <a:rPr lang="en-US" dirty="0"/>
              <a:t> </a:t>
            </a:r>
            <a:r>
              <a:rPr lang="en-US" dirty="0" err="1"/>
              <a:t>tipuri</a:t>
            </a:r>
            <a:r>
              <a:rPr lang="en-US" dirty="0"/>
              <a:t> de </a:t>
            </a:r>
            <a:r>
              <a:rPr lang="en-US" dirty="0" err="1"/>
              <a:t>baze</a:t>
            </a:r>
            <a:r>
              <a:rPr lang="en-US" dirty="0"/>
              <a:t> de date, </a:t>
            </a:r>
            <a:r>
              <a:rPr lang="en-US" dirty="0" err="1"/>
              <a:t>primul</a:t>
            </a:r>
            <a:r>
              <a:rPr lang="en-US" dirty="0"/>
              <a:t> tip </a:t>
            </a:r>
            <a:r>
              <a:rPr lang="en-US" dirty="0" err="1"/>
              <a:t>este</a:t>
            </a:r>
            <a:r>
              <a:rPr lang="en-US" dirty="0"/>
              <a:t> relational, </a:t>
            </a:r>
            <a:r>
              <a:rPr lang="en-US" dirty="0" err="1"/>
              <a:t>inventat</a:t>
            </a:r>
            <a:r>
              <a:rPr lang="en-US" dirty="0"/>
              <a:t> de E.F. </a:t>
            </a:r>
            <a:r>
              <a:rPr lang="en-US" dirty="0" err="1"/>
              <a:t>Codd</a:t>
            </a:r>
            <a:r>
              <a:rPr lang="en-US" dirty="0"/>
              <a:t> la IBM </a:t>
            </a:r>
            <a:r>
              <a:rPr lang="en-US" dirty="0" err="1"/>
              <a:t>în</a:t>
            </a:r>
            <a:r>
              <a:rPr lang="en-US" dirty="0"/>
              <a:t> 1970, un tip tabular </a:t>
            </a:r>
            <a:r>
              <a:rPr lang="en-US" dirty="0" err="1"/>
              <a:t>în</a:t>
            </a:r>
            <a:r>
              <a:rPr lang="en-US" dirty="0"/>
              <a:t> care data </a:t>
            </a:r>
            <a:r>
              <a:rPr lang="en-US" dirty="0" err="1"/>
              <a:t>este</a:t>
            </a:r>
            <a:r>
              <a:rPr lang="en-US" dirty="0"/>
              <a:t> </a:t>
            </a:r>
            <a:r>
              <a:rPr lang="en-US" dirty="0" err="1"/>
              <a:t>definită</a:t>
            </a:r>
            <a:r>
              <a:rPr lang="en-US" dirty="0"/>
              <a:t> </a:t>
            </a:r>
            <a:r>
              <a:rPr lang="en-US" dirty="0" err="1"/>
              <a:t>în</a:t>
            </a:r>
            <a:r>
              <a:rPr lang="en-US" dirty="0"/>
              <a:t> </a:t>
            </a:r>
            <a:r>
              <a:rPr lang="en-US" dirty="0" err="1"/>
              <a:t>așa</a:t>
            </a:r>
            <a:r>
              <a:rPr lang="en-US" dirty="0"/>
              <a:t> mod </a:t>
            </a:r>
            <a:r>
              <a:rPr lang="en-US" dirty="0" err="1"/>
              <a:t>încât</a:t>
            </a:r>
            <a:r>
              <a:rPr lang="ro-RO" dirty="0"/>
              <a:t> poate fi reorganizată și accesată în diferite moduri. Bazele relaționale sunt făcute dintr-un set de tabele cu date ce sunt incluse intr-o categorie predefinită, fiecare tabel are măcar o categorie de data într-o coloană, și fiecare rând are măcar o instanță de date ce sunt definite în coloane. </a:t>
            </a:r>
            <a:endParaRPr lang="ru-RU" dirty="0"/>
          </a:p>
          <a:p>
            <a:endParaRPr lang="ru-RU" dirty="0"/>
          </a:p>
          <a:p>
            <a:endParaRPr lang="ru-RU" dirty="0"/>
          </a:p>
        </p:txBody>
      </p:sp>
      <p:pic>
        <p:nvPicPr>
          <p:cNvPr id="4" name="Picture 3"/>
          <p:cNvPicPr>
            <a:picLocks noChangeAspect="1"/>
          </p:cNvPicPr>
          <p:nvPr/>
        </p:nvPicPr>
        <p:blipFill>
          <a:blip r:embed="rId2"/>
          <a:stretch>
            <a:fillRect/>
          </a:stretch>
        </p:blipFill>
        <p:spPr>
          <a:xfrm>
            <a:off x="7240504" y="5038725"/>
            <a:ext cx="3571875" cy="1819275"/>
          </a:xfrm>
          <a:prstGeom prst="rect">
            <a:avLst/>
          </a:prstGeom>
        </p:spPr>
      </p:pic>
    </p:spTree>
    <p:extLst>
      <p:ext uri="{BB962C8B-B14F-4D97-AF65-F5344CB8AC3E}">
        <p14:creationId xmlns:p14="http://schemas.microsoft.com/office/powerpoint/2010/main" val="3192765203"/>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Utilizarea. HDBC</a:t>
            </a:r>
            <a:endParaRPr lang="ru-RU" dirty="0"/>
          </a:p>
        </p:txBody>
      </p:sp>
      <p:sp>
        <p:nvSpPr>
          <p:cNvPr id="3" name="Content Placeholder 2"/>
          <p:cNvSpPr>
            <a:spLocks noGrp="1"/>
          </p:cNvSpPr>
          <p:nvPr>
            <p:ph idx="1"/>
          </p:nvPr>
        </p:nvSpPr>
        <p:spPr>
          <a:xfrm>
            <a:off x="0" y="2294021"/>
            <a:ext cx="12192000" cy="4563979"/>
          </a:xfrm>
        </p:spPr>
        <p:txBody>
          <a:bodyPr>
            <a:normAutofit/>
          </a:bodyPr>
          <a:lstStyle/>
          <a:p>
            <a:r>
              <a:rPr lang="ro-RO" dirty="0"/>
              <a:t>Fiecare parte din forumuri web sau chiar și programare des utilizează bazele de date pentru stocarea a diferitor informații, bazele de date SQL sunt cele mai convenabile, ele sunt rapide, pot lucra cu rețeaua și tranzacțiile. Fiindcă bazele de date sunt atât de importante, limbajul de programare funcțional Haskell suportă acestea în el de asemenea. Pentru folosirea bazelor de date în Haskell utilizăm framework-uri, anume HDBC. </a:t>
            </a:r>
            <a:endParaRPr lang="ru-RU" dirty="0"/>
          </a:p>
          <a:p>
            <a:r>
              <a:rPr lang="ro-RO" dirty="0"/>
              <a:t>Haskell oferă diferite framework-uri de lucru cu bazele de date, Haskell DataBase Connectivity System (HDBC) este unul dintre ele, o librărie abstractă. HDBC poate accesa datele stocate aproape în oricare SQL bază de date, cu puține sau chiar fără modificări în cod. HDBC oferă un număr larg de alegeri disponibile pentru noi printr-o singură interfață. Similiritate cu HDBC este librăria HSQL. </a:t>
            </a:r>
            <a:endParaRPr lang="ru-RU" dirty="0"/>
          </a:p>
          <a:p>
            <a:endParaRPr lang="ru-RU" dirty="0"/>
          </a:p>
        </p:txBody>
      </p:sp>
      <p:pic>
        <p:nvPicPr>
          <p:cNvPr id="4" name="Picture 3"/>
          <p:cNvPicPr>
            <a:picLocks noChangeAspect="1"/>
          </p:cNvPicPr>
          <p:nvPr/>
        </p:nvPicPr>
        <p:blipFill>
          <a:blip r:embed="rId2"/>
          <a:stretch>
            <a:fillRect/>
          </a:stretch>
        </p:blipFill>
        <p:spPr>
          <a:xfrm>
            <a:off x="9781668" y="4825917"/>
            <a:ext cx="2410332" cy="2032083"/>
          </a:xfrm>
          <a:prstGeom prst="rect">
            <a:avLst/>
          </a:prstGeom>
        </p:spPr>
      </p:pic>
    </p:spTree>
    <p:extLst>
      <p:ext uri="{BB962C8B-B14F-4D97-AF65-F5344CB8AC3E}">
        <p14:creationId xmlns:p14="http://schemas.microsoft.com/office/powerpoint/2010/main" val="43988691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Instalare și Drivere</a:t>
            </a:r>
            <a:endParaRPr lang="ru-RU" dirty="0"/>
          </a:p>
        </p:txBody>
      </p:sp>
      <p:sp>
        <p:nvSpPr>
          <p:cNvPr id="3" name="Content Placeholder 2"/>
          <p:cNvSpPr>
            <a:spLocks noGrp="1"/>
          </p:cNvSpPr>
          <p:nvPr>
            <p:ph idx="1"/>
          </p:nvPr>
        </p:nvSpPr>
        <p:spPr>
          <a:xfrm>
            <a:off x="0" y="2277979"/>
            <a:ext cx="12192000" cy="4580021"/>
          </a:xfrm>
        </p:spPr>
        <p:txBody>
          <a:bodyPr/>
          <a:lstStyle/>
          <a:p>
            <a:r>
              <a:rPr lang="ro-RO" dirty="0"/>
              <a:t>Pentru conectarea la HDBC avem nevoie măcar de două pachete</a:t>
            </a:r>
            <a:r>
              <a:rPr lang="en-US" dirty="0"/>
              <a:t>: </a:t>
            </a:r>
            <a:r>
              <a:rPr lang="ro-RO" dirty="0"/>
              <a:t>interfața generică și driver pentru baza specifică de date. Pachetul HDBC și toate driver-urile sunt obținute din Hackage (hackage.haskell.org). Pentru capitolul dat versiunea de HDBC va fi 1.1.3.  </a:t>
            </a:r>
            <a:endParaRPr lang="ru-RU" dirty="0"/>
          </a:p>
          <a:p>
            <a:r>
              <a:rPr lang="ro-RO" dirty="0"/>
              <a:t> </a:t>
            </a:r>
            <a:endParaRPr lang="ru-RU" dirty="0"/>
          </a:p>
          <a:p>
            <a:r>
              <a:rPr lang="ro-RO" dirty="0"/>
              <a:t>De asemenea necesită o bază de date backend și un driver baclend, cum ar fi SQLite cu versiunea 3. Sqlite este o bază de date ce nu necesită un server separat, fiind ușor de instalat. Poate fi luat de pe sqlite.org. Driver-ul pentru Sqlite poate fi obținut de pe Hackage. </a:t>
            </a:r>
            <a:endParaRPr lang="ru-RU" dirty="0"/>
          </a:p>
          <a:p>
            <a:endParaRPr lang="ru-RU" dirty="0"/>
          </a:p>
        </p:txBody>
      </p:sp>
      <p:pic>
        <p:nvPicPr>
          <p:cNvPr id="4" name="Picture 3"/>
          <p:cNvPicPr/>
          <p:nvPr/>
        </p:nvPicPr>
        <p:blipFill>
          <a:blip r:embed="rId2"/>
          <a:stretch>
            <a:fillRect/>
          </a:stretch>
        </p:blipFill>
        <p:spPr>
          <a:xfrm>
            <a:off x="7680976" y="4329379"/>
            <a:ext cx="4511024" cy="2528621"/>
          </a:xfrm>
          <a:prstGeom prst="rect">
            <a:avLst/>
          </a:prstGeom>
        </p:spPr>
      </p:pic>
    </p:spTree>
    <p:extLst>
      <p:ext uri="{BB962C8B-B14F-4D97-AF65-F5344CB8AC3E}">
        <p14:creationId xmlns:p14="http://schemas.microsoft.com/office/powerpoint/2010/main" val="402948903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Conectarea către baza de date</a:t>
            </a:r>
            <a:endParaRPr lang="ru-RU" dirty="0"/>
          </a:p>
        </p:txBody>
      </p:sp>
      <p:sp>
        <p:nvSpPr>
          <p:cNvPr id="3" name="Content Placeholder 2"/>
          <p:cNvSpPr>
            <a:spLocks noGrp="1"/>
          </p:cNvSpPr>
          <p:nvPr>
            <p:ph idx="1"/>
          </p:nvPr>
        </p:nvSpPr>
        <p:spPr>
          <a:xfrm>
            <a:off x="0" y="2261937"/>
            <a:ext cx="12192000" cy="4596063"/>
          </a:xfrm>
        </p:spPr>
        <p:txBody>
          <a:bodyPr/>
          <a:lstStyle/>
          <a:p>
            <a:r>
              <a:rPr lang="ro-RO" dirty="0"/>
              <a:t>Pentru conectarea către o bază de date se folosește funcția din driverul backend a bazei de date. Fiecare bază de date are metoda sa unică de conexiune. Conexiunea inițială este în general unica dată când apelăm orice dintr-un driver backend direct.</a:t>
            </a:r>
            <a:endParaRPr lang="ru-RU" dirty="0"/>
          </a:p>
          <a:p>
            <a:endParaRPr lang="ru-RU" dirty="0"/>
          </a:p>
        </p:txBody>
      </p:sp>
      <p:pic>
        <p:nvPicPr>
          <p:cNvPr id="4" name="Picture 3"/>
          <p:cNvPicPr/>
          <p:nvPr/>
        </p:nvPicPr>
        <p:blipFill>
          <a:blip r:embed="rId2"/>
          <a:stretch>
            <a:fillRect/>
          </a:stretch>
        </p:blipFill>
        <p:spPr>
          <a:xfrm>
            <a:off x="2668504" y="3203658"/>
            <a:ext cx="7454064" cy="3534026"/>
          </a:xfrm>
          <a:prstGeom prst="rect">
            <a:avLst/>
          </a:prstGeom>
        </p:spPr>
      </p:pic>
    </p:spTree>
    <p:extLst>
      <p:ext uri="{BB962C8B-B14F-4D97-AF65-F5344CB8AC3E}">
        <p14:creationId xmlns:p14="http://schemas.microsoft.com/office/powerpoint/2010/main" val="1439194892"/>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Tranzacții. Interogări</a:t>
            </a:r>
            <a:endParaRPr lang="ru-RU" dirty="0"/>
          </a:p>
        </p:txBody>
      </p:sp>
      <p:sp>
        <p:nvSpPr>
          <p:cNvPr id="3" name="Content Placeholder 2"/>
          <p:cNvSpPr>
            <a:spLocks noGrp="1"/>
          </p:cNvSpPr>
          <p:nvPr>
            <p:ph idx="1"/>
          </p:nvPr>
        </p:nvSpPr>
        <p:spPr>
          <a:xfrm>
            <a:off x="0" y="2261937"/>
            <a:ext cx="12192000" cy="4596063"/>
          </a:xfrm>
        </p:spPr>
        <p:txBody>
          <a:bodyPr/>
          <a:lstStyle/>
          <a:p>
            <a:r>
              <a:rPr lang="ro-RO" dirty="0"/>
              <a:t>Cele mai simple interogări în SQL includ afirmații ce nu returnează o oarecare dată, spre exemplu pentru crearea tabelellor, inserare de date, ștergerem și de setare a parametrilor bazei. Funcția de trimitere de intergoări este run, aceasta ia instanța de IConnection, un String ce reprezintă interogarea propriu-zisă și o listă de parametri. </a:t>
            </a:r>
            <a:endParaRPr lang="ru-RU" dirty="0"/>
          </a:p>
          <a:p>
            <a:endParaRPr lang="ru-RU" dirty="0"/>
          </a:p>
        </p:txBody>
      </p:sp>
      <p:pic>
        <p:nvPicPr>
          <p:cNvPr id="4" name="Picture 3"/>
          <p:cNvPicPr/>
          <p:nvPr/>
        </p:nvPicPr>
        <p:blipFill>
          <a:blip r:embed="rId2"/>
          <a:stretch>
            <a:fillRect/>
          </a:stretch>
        </p:blipFill>
        <p:spPr>
          <a:xfrm>
            <a:off x="3602455" y="3402680"/>
            <a:ext cx="7161798" cy="3455320"/>
          </a:xfrm>
          <a:prstGeom prst="rect">
            <a:avLst/>
          </a:prstGeom>
        </p:spPr>
      </p:pic>
    </p:spTree>
    <p:extLst>
      <p:ext uri="{BB962C8B-B14F-4D97-AF65-F5344CB8AC3E}">
        <p14:creationId xmlns:p14="http://schemas.microsoft.com/office/powerpoint/2010/main" val="62876942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Valori Sql</a:t>
            </a:r>
            <a:endParaRPr lang="ru-RU" dirty="0"/>
          </a:p>
        </p:txBody>
      </p:sp>
      <p:sp>
        <p:nvSpPr>
          <p:cNvPr id="3" name="Content Placeholder 2"/>
          <p:cNvSpPr>
            <a:spLocks noGrp="1"/>
          </p:cNvSpPr>
          <p:nvPr>
            <p:ph idx="1"/>
          </p:nvPr>
        </p:nvSpPr>
        <p:spPr>
          <a:xfrm>
            <a:off x="0" y="2245895"/>
            <a:ext cx="12192000" cy="4612105"/>
          </a:xfrm>
        </p:spPr>
        <p:txBody>
          <a:bodyPr/>
          <a:lstStyle/>
          <a:p>
            <a:r>
              <a:rPr lang="ro-RO" dirty="0"/>
              <a:t>HDBC are tipuri de date: SqlValue. Haskell și HDBC sunt sisteme de tipizare strictă, HDBC încearcă să ofere cât mai multă informație. În același timp, Haskell și tipurile SQL nu se aseamănă unul cu altul, bazele de date au diferite metode de reprezentarea lucrurilor, cum ar fi baze, caractere speciale în string.</a:t>
            </a:r>
            <a:endParaRPr lang="ru-RU" dirty="0"/>
          </a:p>
          <a:p>
            <a:r>
              <a:rPr lang="ro-RO" dirty="0"/>
              <a:t>	SqlValue este un tip de date care are un număr de constructori ca</a:t>
            </a:r>
            <a:r>
              <a:rPr lang="en-US" dirty="0"/>
              <a:t>: </a:t>
            </a:r>
            <a:r>
              <a:rPr lang="en-US" dirty="0" err="1"/>
              <a:t>SqlString</a:t>
            </a:r>
            <a:r>
              <a:rPr lang="en-US" dirty="0"/>
              <a:t>, </a:t>
            </a:r>
            <a:r>
              <a:rPr lang="en-US" dirty="0" err="1"/>
              <a:t>SqlBool</a:t>
            </a:r>
            <a:r>
              <a:rPr lang="en-US" dirty="0"/>
              <a:t>, </a:t>
            </a:r>
            <a:r>
              <a:rPr lang="en-US" dirty="0" err="1"/>
              <a:t>SqlNull</a:t>
            </a:r>
            <a:r>
              <a:rPr lang="en-US" dirty="0"/>
              <a:t>, </a:t>
            </a:r>
            <a:r>
              <a:rPr lang="en-US" dirty="0" err="1"/>
              <a:t>SqlInteger</a:t>
            </a:r>
            <a:r>
              <a:rPr lang="en-US" dirty="0"/>
              <a:t>, </a:t>
            </a:r>
            <a:r>
              <a:rPr lang="en-US" dirty="0" err="1"/>
              <a:t>și</a:t>
            </a:r>
            <a:r>
              <a:rPr lang="en-US" dirty="0"/>
              <a:t> </a:t>
            </a:r>
            <a:r>
              <a:rPr lang="en-US" dirty="0" err="1"/>
              <a:t>altele</a:t>
            </a:r>
            <a:r>
              <a:rPr lang="en-US" dirty="0"/>
              <a:t>. </a:t>
            </a:r>
            <a:r>
              <a:rPr lang="en-US" dirty="0" err="1"/>
              <a:t>Acestea</a:t>
            </a:r>
            <a:r>
              <a:rPr lang="en-US" dirty="0"/>
              <a:t> permit </a:t>
            </a:r>
            <a:r>
              <a:rPr lang="en-US" dirty="0" err="1"/>
              <a:t>reprezentarea</a:t>
            </a:r>
            <a:r>
              <a:rPr lang="en-US" dirty="0"/>
              <a:t> </a:t>
            </a:r>
            <a:r>
              <a:rPr lang="en-US" dirty="0" err="1"/>
              <a:t>multor</a:t>
            </a:r>
            <a:r>
              <a:rPr lang="en-US" dirty="0"/>
              <a:t> </a:t>
            </a:r>
            <a:r>
              <a:rPr lang="en-US" dirty="0" err="1"/>
              <a:t>tipuri</a:t>
            </a:r>
            <a:r>
              <a:rPr lang="en-US" dirty="0"/>
              <a:t> de date </a:t>
            </a:r>
            <a:r>
              <a:rPr lang="en-US" dirty="0" err="1"/>
              <a:t>într</a:t>
            </a:r>
            <a:r>
              <a:rPr lang="en-US" dirty="0"/>
              <a:t>-o </a:t>
            </a:r>
            <a:r>
              <a:rPr lang="en-US" dirty="0" err="1"/>
              <a:t>listă</a:t>
            </a:r>
            <a:r>
              <a:rPr lang="en-US" dirty="0"/>
              <a:t> de </a:t>
            </a:r>
            <a:r>
              <a:rPr lang="en-US" dirty="0" err="1"/>
              <a:t>argumente</a:t>
            </a:r>
            <a:r>
              <a:rPr lang="en-US" dirty="0"/>
              <a:t> </a:t>
            </a:r>
            <a:r>
              <a:rPr lang="en-US" dirty="0" err="1"/>
              <a:t>spre</a:t>
            </a:r>
            <a:r>
              <a:rPr lang="en-US" dirty="0"/>
              <a:t> </a:t>
            </a:r>
            <a:r>
              <a:rPr lang="en-US" dirty="0" err="1"/>
              <a:t>baza</a:t>
            </a:r>
            <a:r>
              <a:rPr lang="en-US" dirty="0"/>
              <a:t> de date, </a:t>
            </a:r>
            <a:r>
              <a:rPr lang="en-US" dirty="0" err="1"/>
              <a:t>și</a:t>
            </a:r>
            <a:r>
              <a:rPr lang="en-US" dirty="0"/>
              <a:t> la </a:t>
            </a:r>
            <a:r>
              <a:rPr lang="en-US" dirty="0" err="1"/>
              <a:t>fel</a:t>
            </a:r>
            <a:r>
              <a:rPr lang="en-US" dirty="0"/>
              <a:t> </a:t>
            </a:r>
            <a:r>
              <a:rPr lang="en-US" dirty="0" err="1"/>
              <a:t>observarea</a:t>
            </a:r>
            <a:r>
              <a:rPr lang="en-US" dirty="0"/>
              <a:t> </a:t>
            </a:r>
            <a:r>
              <a:rPr lang="en-US" dirty="0" err="1"/>
              <a:t>returnării</a:t>
            </a:r>
            <a:r>
              <a:rPr lang="en-US" dirty="0"/>
              <a:t> </a:t>
            </a:r>
            <a:r>
              <a:rPr lang="en-US" dirty="0" err="1"/>
              <a:t>diferitor</a:t>
            </a:r>
            <a:r>
              <a:rPr lang="en-US" dirty="0"/>
              <a:t> </a:t>
            </a:r>
            <a:r>
              <a:rPr lang="en-US" dirty="0" err="1"/>
              <a:t>tipuri</a:t>
            </a:r>
            <a:r>
              <a:rPr lang="ro-RO" dirty="0"/>
              <a:t>. Există funcții toSql și fromSql care sunt des folosite, pentru obținerea precisă a datelor, deși se poate și manual de a folosi constructorul SqlValue.</a:t>
            </a:r>
            <a:endParaRPr lang="ru-RU" dirty="0"/>
          </a:p>
          <a:p>
            <a:endParaRPr lang="ru-RU" dirty="0"/>
          </a:p>
        </p:txBody>
      </p:sp>
      <p:pic>
        <p:nvPicPr>
          <p:cNvPr id="4" name="Picture 3"/>
          <p:cNvPicPr>
            <a:picLocks noChangeAspect="1"/>
          </p:cNvPicPr>
          <p:nvPr/>
        </p:nvPicPr>
        <p:blipFill>
          <a:blip r:embed="rId2"/>
          <a:stretch>
            <a:fillRect/>
          </a:stretch>
        </p:blipFill>
        <p:spPr>
          <a:xfrm>
            <a:off x="7108013" y="4732421"/>
            <a:ext cx="5083987" cy="2125579"/>
          </a:xfrm>
          <a:prstGeom prst="rect">
            <a:avLst/>
          </a:prstGeom>
        </p:spPr>
      </p:pic>
    </p:spTree>
    <p:extLst>
      <p:ext uri="{BB962C8B-B14F-4D97-AF65-F5344CB8AC3E}">
        <p14:creationId xmlns:p14="http://schemas.microsoft.com/office/powerpoint/2010/main" val="4188370627"/>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Parametrii interogării</a:t>
            </a:r>
            <a:endParaRPr lang="ru-RU" dirty="0"/>
          </a:p>
        </p:txBody>
      </p:sp>
      <p:sp>
        <p:nvSpPr>
          <p:cNvPr id="3" name="Content Placeholder 2"/>
          <p:cNvSpPr>
            <a:spLocks noGrp="1"/>
          </p:cNvSpPr>
          <p:nvPr>
            <p:ph idx="1"/>
          </p:nvPr>
        </p:nvSpPr>
        <p:spPr>
          <a:xfrm>
            <a:off x="0" y="2213811"/>
            <a:ext cx="12192000" cy="4644189"/>
          </a:xfrm>
        </p:spPr>
        <p:txBody>
          <a:bodyPr>
            <a:normAutofit/>
          </a:bodyPr>
          <a:lstStyle/>
          <a:p>
            <a:r>
              <a:rPr lang="ro-RO" dirty="0"/>
              <a:t>HDBC suportă parametri înlocuibili în interogări, sunt 3 beneficii de a le folosi</a:t>
            </a:r>
            <a:r>
              <a:rPr lang="en-US" dirty="0"/>
              <a:t>: </a:t>
            </a:r>
            <a:r>
              <a:rPr lang="ro-RO" dirty="0"/>
              <a:t>evitarea atacurilor de injectare SQL sau problemele când intrarea conține alte caractere, la fel îmbunătățește performanța când se execută aceleași interogări repetat, și permit inserarea ușoară și portabilă a datelor în interogări.</a:t>
            </a:r>
            <a:endParaRPr lang="ru-RU" dirty="0"/>
          </a:p>
          <a:p>
            <a:r>
              <a:rPr lang="ro-RO" dirty="0"/>
              <a:t>La dorința de a adăuga sute și mii de linii în tabelul test, se poate de adăugat aceste linii ce vor arăta de tipul</a:t>
            </a:r>
            <a:r>
              <a:rPr lang="en-US" dirty="0"/>
              <a:t>: INSERT INTO test VALUES (0, ‘zero)’ </a:t>
            </a:r>
            <a:r>
              <a:rPr lang="ro-RO" dirty="0"/>
              <a:t>și </a:t>
            </a:r>
            <a:r>
              <a:rPr lang="en-US" dirty="0"/>
              <a:t>and INSERT INTO test VALUES(1, ‘one’), </a:t>
            </a:r>
            <a:r>
              <a:rPr lang="ro-RO" dirty="0"/>
              <a:t>repetând de sute și mii de ori aceeați linie, ceea ce forțează baza de date să parseze fiecare afirmație individual. Altă problemă există la inserarea valorilor de tipul </a:t>
            </a:r>
            <a:r>
              <a:rPr lang="en-US" dirty="0"/>
              <a:t>“ nu-mi </a:t>
            </a:r>
            <a:r>
              <a:rPr lang="en-US" dirty="0" err="1"/>
              <a:t>pl’ace</a:t>
            </a:r>
            <a:r>
              <a:rPr lang="en-US" dirty="0"/>
              <a:t>” </a:t>
            </a:r>
            <a:r>
              <a:rPr lang="en-US" dirty="0" err="1"/>
              <a:t>unde</a:t>
            </a:r>
            <a:r>
              <a:rPr lang="en-US" dirty="0"/>
              <a:t> “ ‘ “ </a:t>
            </a:r>
            <a:r>
              <a:rPr lang="ro-RO" dirty="0"/>
              <a:t>crează problemă pentru că SQL consideră ca sfârșit de câmp. Pentru evitarea scrieriilor metodelor individuale, HDBC poate mânui totul pentru noi.</a:t>
            </a:r>
            <a:endParaRPr lang="ru-RU" dirty="0"/>
          </a:p>
          <a:p>
            <a:endParaRPr lang="ru-RU" dirty="0"/>
          </a:p>
        </p:txBody>
      </p:sp>
      <p:pic>
        <p:nvPicPr>
          <p:cNvPr id="4" name="Picture 3"/>
          <p:cNvPicPr/>
          <p:nvPr/>
        </p:nvPicPr>
        <p:blipFill>
          <a:blip r:embed="rId2"/>
          <a:stretch>
            <a:fillRect/>
          </a:stretch>
        </p:blipFill>
        <p:spPr>
          <a:xfrm>
            <a:off x="1983707" y="4977814"/>
            <a:ext cx="9085346" cy="1551323"/>
          </a:xfrm>
          <a:prstGeom prst="rect">
            <a:avLst/>
          </a:prstGeom>
        </p:spPr>
      </p:pic>
    </p:spTree>
    <p:extLst>
      <p:ext uri="{BB962C8B-B14F-4D97-AF65-F5344CB8AC3E}">
        <p14:creationId xmlns:p14="http://schemas.microsoft.com/office/powerpoint/2010/main" val="3592611884"/>
      </p:ext>
    </p:extLst>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Declarații pregătite</a:t>
            </a:r>
            <a:endParaRPr lang="ru-RU" dirty="0"/>
          </a:p>
        </p:txBody>
      </p:sp>
      <p:sp>
        <p:nvSpPr>
          <p:cNvPr id="3" name="Content Placeholder 2"/>
          <p:cNvSpPr>
            <a:spLocks noGrp="1"/>
          </p:cNvSpPr>
          <p:nvPr>
            <p:ph idx="1"/>
          </p:nvPr>
        </p:nvSpPr>
        <p:spPr>
          <a:xfrm>
            <a:off x="-128337" y="2197768"/>
            <a:ext cx="12464715" cy="4443664"/>
          </a:xfrm>
        </p:spPr>
        <p:txBody>
          <a:bodyPr/>
          <a:lstStyle/>
          <a:p>
            <a:r>
              <a:rPr lang="ro-RO" dirty="0"/>
              <a:t>HDBC definește o funcție prepare ce va prepara o interogare SQL, dar nu va adăuga parmetrii la interogare. Prepare returnează o afirmație ce reprezintă intergoarea compilată</a:t>
            </a:r>
            <a:r>
              <a:rPr lang="ro-RO" dirty="0" smtClean="0"/>
              <a:t>.</a:t>
            </a:r>
            <a:endParaRPr lang="ru-RU" dirty="0"/>
          </a:p>
          <a:p>
            <a:r>
              <a:rPr lang="ro-RO" dirty="0"/>
              <a:t>Odată ce există afirmația, se poate de făcut multe lucruri cu ea. Poate fi apelat execute la ea, odată sau de mai multe ori, după apelarea execute la o interogare ce returnează date, se poate folosi una dintre funcțiile fetch de a obține acea dată. Funcțiile de genu run și quickQuery folosesc afirmații și execute intern, sunt simple scurtări ce permit executarea acțiunilor simple rapid. Când este necesară controlul mai amănunțit se poate de folosit Statement decât run. </a:t>
            </a:r>
            <a:endParaRPr lang="ru-RU" dirty="0"/>
          </a:p>
          <a:p>
            <a:endParaRPr lang="ru-RU" dirty="0"/>
          </a:p>
        </p:txBody>
      </p:sp>
      <p:pic>
        <p:nvPicPr>
          <p:cNvPr id="4" name="Picture 3"/>
          <p:cNvPicPr/>
          <p:nvPr/>
        </p:nvPicPr>
        <p:blipFill>
          <a:blip r:embed="rId2"/>
          <a:stretch>
            <a:fillRect/>
          </a:stretch>
        </p:blipFill>
        <p:spPr>
          <a:xfrm>
            <a:off x="-1" y="4419600"/>
            <a:ext cx="4716379" cy="2438400"/>
          </a:xfrm>
          <a:prstGeom prst="rect">
            <a:avLst/>
          </a:prstGeom>
        </p:spPr>
      </p:pic>
      <p:pic>
        <p:nvPicPr>
          <p:cNvPr id="5" name="Picture 4"/>
          <p:cNvPicPr/>
          <p:nvPr/>
        </p:nvPicPr>
        <p:blipFill>
          <a:blip r:embed="rId3"/>
          <a:stretch>
            <a:fillRect/>
          </a:stretch>
        </p:blipFill>
        <p:spPr>
          <a:xfrm>
            <a:off x="4844714" y="4419600"/>
            <a:ext cx="7347286" cy="2438400"/>
          </a:xfrm>
          <a:prstGeom prst="rect">
            <a:avLst/>
          </a:prstGeom>
        </p:spPr>
      </p:pic>
    </p:spTree>
    <p:extLst>
      <p:ext uri="{BB962C8B-B14F-4D97-AF65-F5344CB8AC3E}">
        <p14:creationId xmlns:p14="http://schemas.microsoft.com/office/powerpoint/2010/main" val="35869823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Citirea rezultatelor</a:t>
            </a:r>
            <a:endParaRPr lang="ru-RU" dirty="0"/>
          </a:p>
        </p:txBody>
      </p:sp>
      <p:sp>
        <p:nvSpPr>
          <p:cNvPr id="3" name="Content Placeholder 2"/>
          <p:cNvSpPr>
            <a:spLocks noGrp="1"/>
          </p:cNvSpPr>
          <p:nvPr>
            <p:ph idx="1"/>
          </p:nvPr>
        </p:nvSpPr>
        <p:spPr/>
        <p:txBody>
          <a:bodyPr/>
          <a:lstStyle/>
          <a:p>
            <a:r>
              <a:rPr lang="ro-RO" dirty="0"/>
              <a:t>Pentru citirea datelor se poate foloosi quickQuery care returnează o listă de date, și arată similar cu run, deși run returnează numărul de linii modificate. quickQuery este folosit cu afirmații SELECT. </a:t>
            </a:r>
            <a:endParaRPr lang="ru-RU" dirty="0"/>
          </a:p>
          <a:p>
            <a:endParaRPr lang="ru-RU" dirty="0"/>
          </a:p>
        </p:txBody>
      </p:sp>
      <p:pic>
        <p:nvPicPr>
          <p:cNvPr id="4" name="Picture 3"/>
          <p:cNvPicPr/>
          <p:nvPr/>
        </p:nvPicPr>
        <p:blipFill>
          <a:blip r:embed="rId2"/>
          <a:stretch>
            <a:fillRect/>
          </a:stretch>
        </p:blipFill>
        <p:spPr>
          <a:xfrm>
            <a:off x="1473450" y="3694429"/>
            <a:ext cx="9579561" cy="1888223"/>
          </a:xfrm>
          <a:prstGeom prst="rect">
            <a:avLst/>
          </a:prstGeom>
        </p:spPr>
      </p:pic>
    </p:spTree>
    <p:extLst>
      <p:ext uri="{BB962C8B-B14F-4D97-AF65-F5344CB8AC3E}">
        <p14:creationId xmlns:p14="http://schemas.microsoft.com/office/powerpoint/2010/main" val="377694372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o-RO" dirty="0" smtClean="0"/>
              <a:t>Concluzii</a:t>
            </a:r>
            <a:endParaRPr lang="ru-RU" dirty="0"/>
          </a:p>
        </p:txBody>
      </p:sp>
      <p:sp>
        <p:nvSpPr>
          <p:cNvPr id="3" name="Content Placeholder 2"/>
          <p:cNvSpPr>
            <a:spLocks noGrp="1"/>
          </p:cNvSpPr>
          <p:nvPr>
            <p:ph idx="1"/>
          </p:nvPr>
        </p:nvSpPr>
        <p:spPr/>
        <p:txBody>
          <a:bodyPr/>
          <a:lstStyle/>
          <a:p>
            <a:r>
              <a:rPr lang="ro-RO" dirty="0"/>
              <a:t>Haskell permite utilizarea bazelor de date, și aplicarea lor în diferite necesități, având framework-uri ce permit lucrul cu ele. De asemenea, oferă posibilități pe care le folosesc și oricare alte limbaje. Utilizarea bazelor de date acoperă toate aspectele ca și utilizarea lor uzuală, respectiv utilizarea lor în paradigma funcțională, dar și în cea obiect orientat constă din aceeași bază, ceea ce și demonstrează faptul că nu degeaba Haskell în 2019 a fost unul dintre cele mai căutate limbaje.</a:t>
            </a:r>
            <a:endParaRPr lang="ru-RU" dirty="0"/>
          </a:p>
          <a:p>
            <a:endParaRPr lang="ru-RU" dirty="0"/>
          </a:p>
        </p:txBody>
      </p:sp>
    </p:spTree>
    <p:extLst>
      <p:ext uri="{BB962C8B-B14F-4D97-AF65-F5344CB8AC3E}">
        <p14:creationId xmlns:p14="http://schemas.microsoft.com/office/powerpoint/2010/main" val="65535877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smtClean="0"/>
              <a:t>Bibliografie</a:t>
            </a:r>
            <a:endParaRPr lang="ru-RU" dirty="0"/>
          </a:p>
        </p:txBody>
      </p:sp>
      <p:sp>
        <p:nvSpPr>
          <p:cNvPr id="3" name="Content Placeholder 2"/>
          <p:cNvSpPr>
            <a:spLocks noGrp="1"/>
          </p:cNvSpPr>
          <p:nvPr>
            <p:ph idx="1"/>
          </p:nvPr>
        </p:nvSpPr>
        <p:spPr/>
        <p:txBody>
          <a:bodyPr/>
          <a:lstStyle/>
          <a:p>
            <a:r>
              <a:rPr lang="ro-RO" u="sng" dirty="0">
                <a:hlinkClick r:id="rId2"/>
              </a:rPr>
              <a:t>https://hackage.haskell.org/package/HDBC</a:t>
            </a:r>
            <a:endParaRPr lang="ru-RU" dirty="0"/>
          </a:p>
          <a:p>
            <a:r>
              <a:rPr lang="ru-RU" u="sng" dirty="0">
                <a:hlinkClick r:id="rId3"/>
              </a:rPr>
              <a:t>https://www.sqlite.org/index.html</a:t>
            </a:r>
            <a:endParaRPr lang="ru-RU" dirty="0"/>
          </a:p>
          <a:p>
            <a:r>
              <a:rPr lang="ru-RU" u="sng" dirty="0">
                <a:hlinkClick r:id="rId4"/>
              </a:rPr>
              <a:t>https://wiki.haskell.org/Introduction</a:t>
            </a:r>
            <a:endParaRPr lang="ru-RU" dirty="0"/>
          </a:p>
          <a:p>
            <a:r>
              <a:rPr lang="ru-RU" u="sng" dirty="0">
                <a:hlinkClick r:id="rId5"/>
              </a:rPr>
              <a:t>https://wiki.haskell.org/Web/Databases_and_Persistence</a:t>
            </a:r>
            <a:endParaRPr lang="ru-RU" dirty="0"/>
          </a:p>
          <a:p>
            <a:r>
              <a:rPr lang="ru-RU" u="sng" dirty="0">
                <a:hlinkClick r:id="rId6"/>
              </a:rPr>
              <a:t>https://hackage.haskell.org/package/HDBC-2.4.0.3/docs/Database-HDBC.html</a:t>
            </a:r>
            <a:endParaRPr lang="ru-RU" dirty="0"/>
          </a:p>
          <a:p>
            <a:r>
              <a:rPr lang="ru-RU" u="sng">
                <a:hlinkClick r:id="rId7"/>
              </a:rPr>
              <a:t>https://en.wikibooks.org/wiki/Haskell/Database</a:t>
            </a:r>
            <a:endParaRPr lang="ru-RU"/>
          </a:p>
          <a:p>
            <a:endParaRPr lang="ru-RU"/>
          </a:p>
        </p:txBody>
      </p:sp>
    </p:spTree>
    <p:extLst>
      <p:ext uri="{BB962C8B-B14F-4D97-AF65-F5344CB8AC3E}">
        <p14:creationId xmlns:p14="http://schemas.microsoft.com/office/powerpoint/2010/main" val="2537277194"/>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19</TotalTime>
  <Words>1162</Words>
  <Application>Microsoft Office PowerPoint</Application>
  <PresentationFormat>Widescreen</PresentationFormat>
  <Paragraphs>53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Century Gothic</vt:lpstr>
      <vt:lpstr>Wingdings 3</vt:lpstr>
      <vt:lpstr>Ion Boardroom</vt:lpstr>
      <vt:lpstr>Lucrul cu baze de date în Haskell</vt:lpstr>
      <vt:lpstr>CUPRINS</vt:lpstr>
      <vt:lpstr>Introducere</vt:lpstr>
      <vt:lpstr>Baze de date. Noțiunea de baze de date</vt:lpstr>
      <vt:lpstr>Utilizarea. HDBC</vt:lpstr>
      <vt:lpstr>Instalare și Drivere</vt:lpstr>
      <vt:lpstr>Conectarea către baza de date</vt:lpstr>
      <vt:lpstr>Tranzacții. Interogări</vt:lpstr>
      <vt:lpstr>Valori Sql</vt:lpstr>
      <vt:lpstr>Parametrii interogării</vt:lpstr>
      <vt:lpstr>Declarații pregătite</vt:lpstr>
      <vt:lpstr>Citirea rezultatelor</vt:lpstr>
      <vt:lpstr>Concluzii</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Lucrul cu baze de date în Haskell</dc:title>
  <dc:creator>Пользователь</dc:creator>
  <cp:lastModifiedBy>Пользователь</cp:lastModifiedBy>
  <cp:revision>4</cp:revision>
  <dcterms:created xsi:type="dcterms:W3CDTF">2020-11-22T12:20:46Z</dcterms:created>
  <dcterms:modified xsi:type="dcterms:W3CDTF">2020-11-22T12:40:46Z</dcterms:modified>
</cp:coreProperties>
</file>